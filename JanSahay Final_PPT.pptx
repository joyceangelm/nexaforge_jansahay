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395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54FE4-D2BF-B846-F170-CC4D4CFA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E856F-87B3-CEA1-9F23-FCD9DDA7F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564D8-7E1A-FE06-90FF-92E34D9C4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1B8C3-11A9-0043-0CCD-AFAFCE239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0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4E0C-8E3C-70B9-C62F-308CDE82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09CA-319F-7C92-45D7-90A22352F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28719-70B6-D646-BA30-F87C0CB7C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C19A1-7E03-481F-76A4-26E51B84A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04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393C-D74E-5997-1216-4DBCA252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269DB-A07F-F98E-0077-90FC7915D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CAAE0-CFAD-3F1B-CD8A-3FB49ECB0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B02A5-1184-7A61-4C58-FF61A244B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91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BDE8-19B4-303D-D021-99A21546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82A21-2B35-2372-9438-9079AA28F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15B42-EA77-D688-FF60-6C47E7AFE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B170-D6D5-3113-0302-861C7F5D3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15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F0F5EA"/>
          </a:solidFill>
          <a:ln w="12700">
            <a:solidFill>
              <a:srgbClr val="F0F5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36592" y="525428"/>
            <a:ext cx="4325110" cy="3960055"/>
          </a:xfrm>
          <a:prstGeom prst="ellipse">
            <a:avLst/>
          </a:prstGeom>
          <a:solidFill>
            <a:srgbClr val="FAEAC8"/>
          </a:solidFill>
          <a:ln w="12700">
            <a:solidFill>
              <a:srgbClr val="E8A8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298947" y="937260"/>
            <a:ext cx="3200400" cy="3200400"/>
          </a:xfrm>
          <a:prstGeom prst="ellipse">
            <a:avLst/>
          </a:prstGeom>
          <a:solidFill>
            <a:srgbClr val="FDF6E6"/>
          </a:solidFill>
          <a:ln w="9525">
            <a:solidFill>
              <a:srgbClr val="E8A8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-365760" y="3474720"/>
            <a:ext cx="2286000" cy="2286000"/>
          </a:xfrm>
          <a:prstGeom prst="ellipse">
            <a:avLst/>
          </a:prstGeom>
          <a:solidFill>
            <a:srgbClr val="D8ECC4"/>
          </a:solidFill>
          <a:ln w="12700">
            <a:solidFill>
              <a:srgbClr val="7AAD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02920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D8ECC4"/>
          </a:solidFill>
          <a:ln w="9525">
            <a:solidFill>
              <a:srgbClr val="7AA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chemeClr val="accent2">
                    <a:lumMod val="75000"/>
                  </a:schemeClr>
                </a:solidFill>
              </a:rPr>
              <a:t>IN Government Assistance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4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JanSahay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A3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सरकारी योजना, अब आसान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80" dirty="0">
                <a:solidFill>
                  <a:srgbClr val="8B6F4E"/>
                </a:solidFill>
              </a:rPr>
              <a:t>Sarkari Yojana, Ab Aasaan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AI platform helping rural citizens across India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government welfare schemes — in their own language.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58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18"/>
                </a:solidFill>
              </a:rPr>
              <a:t>🎙️  Voice 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9656" y="3858768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9656" y="3858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18"/>
                </a:solidFill>
              </a:rPr>
              <a:t>🌐  9 Languages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6392" y="3858768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3858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18"/>
                </a:solidFill>
              </a:rPr>
              <a:t>🤖  AI Chatbot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53128" y="3858768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EA"/>
          </a:solidFill>
          <a:ln w="12700">
            <a:solidFill>
              <a:srgbClr val="D8E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Making Government Welfare Accessible for Every Citizen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10EB2F3-4CC7-B957-8A8A-FA3B5057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76656"/>
            <a:ext cx="3657600" cy="3657600"/>
          </a:xfrm>
          <a:prstGeom prst="ellipse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27B0F18-0FFB-697E-64B4-5C71CF591EF1}"/>
              </a:ext>
            </a:extLst>
          </p:cNvPr>
          <p:cNvSpPr txBox="1"/>
          <p:nvPr/>
        </p:nvSpPr>
        <p:spPr>
          <a:xfrm>
            <a:off x="4654999" y="3909393"/>
            <a:ext cx="8034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CSC Locator</a:t>
            </a:r>
            <a:endParaRPr lang="en-I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A1E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 eligible. Millions excluded.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331720" cy="3566160"/>
          </a:xfrm>
          <a:prstGeom prst="rect">
            <a:avLst/>
          </a:prstGeom>
          <a:solidFill>
            <a:srgbClr val="F5DDD0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2331720" cy="64008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36192"/>
            <a:ext cx="2331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4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3018"/>
                </a:solidFill>
              </a:rPr>
              <a:t>rural citizens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A3018"/>
                </a:solidFill>
              </a:rPr>
              <a:t>potentially missing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A3018"/>
                </a:solidFill>
              </a:rPr>
              <a:t>out on welfare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310128"/>
            <a:ext cx="1600200" cy="27432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429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6F4E"/>
                </a:solidFill>
              </a:rPr>
              <a:t>Only ~30% of eligible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B6F4E"/>
                </a:solidFill>
              </a:rPr>
              <a:t>citizens successfully apply.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1207008"/>
            <a:ext cx="5833872" cy="1115568"/>
          </a:xfrm>
          <a:prstGeom prst="rect">
            <a:avLst/>
          </a:prstGeom>
          <a:solidFill>
            <a:srgbClr val="F5DDD0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1207008"/>
            <a:ext cx="64008" cy="1115568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44475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4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444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67328" y="12984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Documents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7328" y="16642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Scheme eligibility buried in dense bureaucratic language — no plain summaries, no guidance.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44368" y="2441448"/>
            <a:ext cx="5833872" cy="1115568"/>
          </a:xfrm>
          <a:prstGeom prst="rect">
            <a:avLst/>
          </a:prstGeom>
          <a:solidFill>
            <a:srgbClr val="FAEAC8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44368" y="2441448"/>
            <a:ext cx="64008" cy="1115568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2679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47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679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67328" y="25328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67328" y="28986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Official content exists only in English or formal Hindi, excluding speakers of 700+ local dialects.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44368" y="3675888"/>
            <a:ext cx="5833872" cy="1115568"/>
          </a:xfrm>
          <a:prstGeom prst="rect">
            <a:avLst/>
          </a:prstGeom>
          <a:solidFill>
            <a:srgbClr val="D8ECC4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44368" y="3675888"/>
            <a:ext cx="64008" cy="1115568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391363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3913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67328" y="37673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Literacy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413308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Existing apps assume smartphone skills that most first-time rural users simply don't have.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DF0EA"/>
          </a:solidFill>
          <a:ln w="12700">
            <a:solidFill>
              <a:srgbClr val="F5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7035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JanSahay makes schemes usable, not just available.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70432"/>
            <a:ext cx="2651760" cy="64008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335024"/>
            <a:ext cx="530352" cy="530352"/>
          </a:xfrm>
          <a:prstGeom prst="ellipse">
            <a:avLst/>
          </a:prstGeom>
          <a:solidFill>
            <a:srgbClr val="4A7035">
              <a:alpha val="15000"/>
            </a:srgbClr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350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2144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Assistant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9476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your language. Get scheme info, eligibility &amp; guidance spoken back to you.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651760" cy="64008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530352" cy="530352"/>
          </a:xfrm>
          <a:prstGeom prst="ellipse">
            <a:avLst/>
          </a:prstGeom>
          <a:solidFill>
            <a:srgbClr val="2E8B80">
              <a:alpha val="15000"/>
            </a:srgbClr>
          </a:solidFill>
          <a:ln w="9525">
            <a:solidFill>
              <a:srgbClr val="2E8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350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05072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Indian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19476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Hindi, Tamil, Telugu, Kannada, Bengali, Marathi, Gujarati, Malayalam &amp; Odia.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1704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170432"/>
            <a:ext cx="2651760" cy="64008"/>
          </a:xfrm>
          <a:prstGeom prst="rect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35024"/>
            <a:ext cx="530352" cy="530352"/>
          </a:xfrm>
          <a:prstGeom prst="ellipse">
            <a:avLst/>
          </a:prstGeom>
          <a:solidFill>
            <a:srgbClr val="3578A0">
              <a:alpha val="15000"/>
            </a:srgbClr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350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13167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0488" y="19476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AI to explore schemes. Upload Aadhaar/PAN for instant personalized matching.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29992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999232"/>
            <a:ext cx="2651760" cy="64008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3163824"/>
            <a:ext cx="530352" cy="530352"/>
          </a:xfrm>
          <a:prstGeom prst="ellipse">
            <a:avLst/>
          </a:prstGeom>
          <a:solidFill>
            <a:srgbClr val="C4751A">
              <a:alpha val="15000"/>
            </a:srgbClr>
          </a:solidFill>
          <a:ln w="9525">
            <a:solidFill>
              <a:srgbClr val="C475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1638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2144" y="31455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500+ schemes with ratings, categories, and community reviews for easy discovery.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9992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99232"/>
            <a:ext cx="2651760" cy="64008"/>
          </a:xfrm>
          <a:prstGeom prst="rect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3163824"/>
            <a:ext cx="530352" cy="530352"/>
          </a:xfrm>
          <a:prstGeom prst="ellipse">
            <a:avLst/>
          </a:prstGeom>
          <a:solidFill>
            <a:srgbClr val="7B4F82">
              <a:alpha val="15000"/>
            </a:srgbClr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1638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05072" y="31455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Comparison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37560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schemes side-by-side — benefits, eligibility, documents, deadlines.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3328" y="2999232"/>
            <a:ext cx="26517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2999232"/>
            <a:ext cx="2651760" cy="64008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163824"/>
            <a:ext cx="530352" cy="530352"/>
          </a:xfrm>
          <a:prstGeom prst="ellipse">
            <a:avLst/>
          </a:prstGeom>
          <a:solidFill>
            <a:srgbClr val="B84A1E">
              <a:alpha val="15000"/>
            </a:srgbClr>
          </a:solidFill>
          <a:ln w="9525">
            <a:solidFill>
              <a:srgbClr val="B84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1638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58000" y="31455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90488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checker: enter your profile once, get precise matches with confidence scores.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8ECC4"/>
          </a:solidFill>
          <a:ln w="12700">
            <a:solidFill>
              <a:srgbClr val="D8EC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Our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B80"/>
                </a:solidFill>
              </a:rPr>
              <a:t>ALL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Working Features, Built for Bharat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2724912" cy="1097280"/>
          </a:xfrm>
          <a:prstGeom prst="rect">
            <a:avLst/>
          </a:prstGeom>
          <a:solidFill>
            <a:srgbClr val="F0F5EA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64008" cy="1097280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243584"/>
            <a:ext cx="438912" cy="438912"/>
          </a:xfrm>
          <a:prstGeom prst="ellipse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Authentication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OTP-based mobile login — no passwords, no friction for first-time users.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115568"/>
            <a:ext cx="2724912" cy="1097280"/>
          </a:xfrm>
          <a:prstGeom prst="rect">
            <a:avLst/>
          </a:prstGeom>
          <a:solidFill>
            <a:srgbClr val="FDF6E6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115568"/>
            <a:ext cx="64008" cy="1097280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243584"/>
            <a:ext cx="438912" cy="438912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13632" y="122529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Assistant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73736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queries in 9 regional Indian languages. AI responds with spoken answers.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115568"/>
            <a:ext cx="2724912" cy="1097280"/>
          </a:xfrm>
          <a:prstGeom prst="rect">
            <a:avLst/>
          </a:prstGeom>
          <a:solidFill>
            <a:srgbClr val="EDF4F7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115568"/>
            <a:ext cx="64008" cy="1097280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243584"/>
            <a:ext cx="438912" cy="438912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9712" y="122529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+ Doc Upload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648" y="173736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AI. Upload Aadhaar/PAN for instant scheme matching &amp; eligibility.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350008"/>
            <a:ext cx="2724912" cy="1097280"/>
          </a:xfrm>
          <a:prstGeom prst="rect">
            <a:avLst/>
          </a:prstGeom>
          <a:solidFill>
            <a:srgbClr val="F0F5EA"/>
          </a:solidFill>
          <a:ln w="9525">
            <a:solidFill>
              <a:srgbClr val="7B4F8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350008"/>
            <a:ext cx="64008" cy="1097280"/>
          </a:xfrm>
          <a:prstGeom prst="rect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78024"/>
            <a:ext cx="438912" cy="438912"/>
          </a:xfrm>
          <a:prstGeom prst="ellipse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245973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 + Ratings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29718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500+ schemes with star ratings, filters, and community-sourced reviews.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73552" y="2350008"/>
            <a:ext cx="2724912" cy="1097280"/>
          </a:xfrm>
          <a:prstGeom prst="rect">
            <a:avLst/>
          </a:prstGeom>
          <a:solidFill>
            <a:srgbClr val="FDF6E6"/>
          </a:solidFill>
          <a:ln w="9525">
            <a:solidFill>
              <a:srgbClr val="3578A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2350008"/>
            <a:ext cx="64008" cy="1097280"/>
          </a:xfrm>
          <a:prstGeom prst="rect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2478024"/>
            <a:ext cx="438912" cy="438912"/>
          </a:xfrm>
          <a:prstGeom prst="ellipse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13632" y="245973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Comparison Tool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29718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schemes — benefits, docs needed, success rates.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9632" y="2350008"/>
            <a:ext cx="2724912" cy="1097280"/>
          </a:xfrm>
          <a:prstGeom prst="rect">
            <a:avLst/>
          </a:prstGeom>
          <a:solidFill>
            <a:srgbClr val="EDF4F7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2350008"/>
            <a:ext cx="64008" cy="1097280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478024"/>
            <a:ext cx="438912" cy="438912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9712" y="245973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27648" y="29718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checker using profile data to match you with schemes — with scores.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3584448"/>
            <a:ext cx="2724912" cy="1097280"/>
          </a:xfrm>
          <a:prstGeom prst="rect">
            <a:avLst/>
          </a:prstGeom>
          <a:solidFill>
            <a:srgbClr val="F0F5EA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3584448"/>
            <a:ext cx="64008" cy="1097280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3712464"/>
            <a:ext cx="438912" cy="438912"/>
          </a:xfrm>
          <a:prstGeom prst="ellipse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87552" y="369417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5488" y="4206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applications in real-time. Get status updates and next-step reminders.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73552" y="3584448"/>
            <a:ext cx="2724912" cy="1097280"/>
          </a:xfrm>
          <a:prstGeom prst="rect">
            <a:avLst/>
          </a:prstGeom>
          <a:solidFill>
            <a:srgbClr val="FDF6E6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73552" y="3584448"/>
            <a:ext cx="64008" cy="1097280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01568" y="3712464"/>
            <a:ext cx="438912" cy="438912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1568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13632" y="369417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Calendar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401568" y="4206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scheme deadline. Set reminders for applications, renewals &amp; docs.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99632" y="3584448"/>
            <a:ext cx="2724912" cy="1097280"/>
          </a:xfrm>
          <a:prstGeom prst="rect">
            <a:avLst/>
          </a:prstGeom>
          <a:solidFill>
            <a:srgbClr val="EDF4F7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99632" y="3584448"/>
            <a:ext cx="64008" cy="1097280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3712464"/>
            <a:ext cx="438912" cy="438912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39712" y="369417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Center Locator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327648" y="420624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Common Service Centers with maps, hours, and contact details.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F4F7"/>
          </a:solidFill>
          <a:ln w="12700">
            <a:solidFill>
              <a:srgbClr val="CBE3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All Features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751A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citizen's journey — from voice to scheme application.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2304288"/>
            <a:ext cx="7498080" cy="36576"/>
          </a:xfrm>
          <a:prstGeom prst="rect">
            <a:avLst/>
          </a:prstGeom>
          <a:solidFill>
            <a:srgbClr val="E8A832">
              <a:alpha val="50000"/>
            </a:srgbClr>
          </a:solidFill>
          <a:ln w="12700">
            <a:solidFill>
              <a:srgbClr val="E8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43000"/>
            <a:ext cx="1993392" cy="3520440"/>
          </a:xfrm>
          <a:prstGeom prst="rect">
            <a:avLst/>
          </a:prstGeom>
          <a:solidFill>
            <a:srgbClr val="FAEAC8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1993392" cy="64008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261872"/>
            <a:ext cx="713232" cy="713232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10312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" y="277977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255264"/>
            <a:ext cx="17739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3018"/>
                </a:solidFill>
              </a:rPr>
              <a:t>Say your query in your own language. No typing, no reading.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23744" y="1143000"/>
            <a:ext cx="1993392" cy="3520440"/>
          </a:xfrm>
          <a:prstGeom prst="rect">
            <a:avLst/>
          </a:prstGeom>
          <a:solidFill>
            <a:srgbClr val="D8ECC4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1143000"/>
            <a:ext cx="1993392" cy="64008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261872"/>
            <a:ext cx="713232" cy="713232"/>
          </a:xfrm>
          <a:prstGeom prst="ellipse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23744" y="210312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15184" y="277977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33472" y="3255264"/>
            <a:ext cx="17739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3018"/>
                </a:solidFill>
              </a:rPr>
              <a:t>AI checks eligibility &amp; finds the best-fit schemes.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0016" y="1143000"/>
            <a:ext cx="1993392" cy="3520440"/>
          </a:xfrm>
          <a:prstGeom prst="rect">
            <a:avLst/>
          </a:prstGeom>
          <a:solidFill>
            <a:srgbClr val="C8E8E5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143000"/>
            <a:ext cx="1993392" cy="64008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30952" y="1261872"/>
            <a:ext cx="713232" cy="713232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210312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91456" y="277977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09744" y="3255264"/>
            <a:ext cx="17739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3018"/>
                </a:solidFill>
              </a:rPr>
              <a:t>Step-by-step instructions spoken aloud in your language.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76288" y="1143000"/>
            <a:ext cx="1993392" cy="3520440"/>
          </a:xfrm>
          <a:prstGeom prst="rect">
            <a:avLst/>
          </a:prstGeom>
          <a:solidFill>
            <a:srgbClr val="E8D8EC"/>
          </a:solidFill>
          <a:ln w="9525">
            <a:solidFill>
              <a:srgbClr val="7B4F8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143000"/>
            <a:ext cx="1993392" cy="64008"/>
          </a:xfrm>
          <a:prstGeom prst="rect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1261872"/>
            <a:ext cx="713232" cy="713232"/>
          </a:xfrm>
          <a:prstGeom prst="ellipse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210312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67728" y="277977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86016" y="3255264"/>
            <a:ext cx="17739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3018"/>
                </a:solidFill>
              </a:rPr>
              <a:t>Track status, get deadline reminders, locate CSC centers.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AEAC8"/>
          </a:solidFill>
          <a:ln w="12700">
            <a:solidFill>
              <a:srgbClr val="E8A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How It Works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B80"/>
                </a:solidFill>
              </a:rPr>
              <a:t>AI CORE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&amp; AI — the heart of JanSahay.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977640" cy="3657600"/>
          </a:xfrm>
          <a:prstGeom prst="rect">
            <a:avLst/>
          </a:prstGeom>
          <a:solidFill>
            <a:srgbClr val="C8E8E5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3977640" cy="64008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🎙️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AI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2E8B80"/>
                </a:solidFill>
              </a:rPr>
              <a:t>Web Speech API + Google Translate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611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🌐  9 regional Indian languages supported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3611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🗣️  Speech-to-text + text-to-speech in browser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3611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021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⚡  Real-time translation via Google Translate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3611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96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📵  Cached responses for low/no connectivity areas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3611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970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👂  Hands-free — no typing or reading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133088" cy="3657600"/>
          </a:xfrm>
          <a:prstGeom prst="rect">
            <a:avLst/>
          </a:prstGeom>
          <a:solidFill>
            <a:srgbClr val="FAEAC8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97280"/>
            <a:ext cx="4133088" cy="64008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234440"/>
            <a:ext cx="4133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754880" y="1993392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+ Doc Upload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432304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C4751A"/>
                </a:solidFill>
              </a:rPr>
              <a:t>Ollama + Llama 3.2 (Local LLM)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2788920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AEA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072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📄  Upload Aadhaar / PAN for auto profile fill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3136392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AEA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1546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🔒  Documents processed locally — fully private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483864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AEA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502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💬  Conversational Q&amp;A about any scheme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3831336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AEA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4962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🎯  Personalized scheme recommendations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4178808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AEA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19709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018"/>
                </a:solidFill>
              </a:rPr>
              <a:t>📵  Core AI runs offline via Ollama locally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F4F7"/>
          </a:solidFill>
          <a:ln w="12700">
            <a:solidFill>
              <a:srgbClr val="CB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AI Core Features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7035"/>
                </a:solidFill>
              </a:rPr>
              <a:t>SCHEME DISCOVERY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Find, compare &amp; qualify for the right scheme.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39328" cy="1097280"/>
          </a:xfrm>
          <a:prstGeom prst="rect">
            <a:avLst/>
          </a:prstGeom>
          <a:solidFill>
            <a:srgbClr val="E8D8EC"/>
          </a:solidFill>
          <a:ln w="9525">
            <a:solidFill>
              <a:srgbClr val="7B4F8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15568"/>
            <a:ext cx="64008" cy="1097280"/>
          </a:xfrm>
          <a:prstGeom prst="rect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225296"/>
            <a:ext cx="502920" cy="502920"/>
          </a:xfrm>
          <a:prstGeom prst="ellipse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64208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Catalog with Ratings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64208" y="15727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comprehensive catalog of 500+ central and state government schemes. Each scheme shows eligibility criteria, required documents, benefits, and community star ratings. Filter by category (agriculture, education, health, housing), state, and income group.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36208" y="128016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28016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4F82"/>
                </a:solidFill>
              </a:rPr>
              <a:t>500+ Schemes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43216" y="128016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128016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4F82"/>
                </a:solidFill>
              </a:rPr>
              <a:t>Star Ratings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168249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682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4F82"/>
                </a:solidFill>
              </a:rPr>
              <a:t>Community Reviews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43216" y="168249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682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4F82"/>
                </a:solidFill>
              </a:rPr>
              <a:t>Smart Filters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350008"/>
            <a:ext cx="8339328" cy="1097280"/>
          </a:xfrm>
          <a:prstGeom prst="rect">
            <a:avLst/>
          </a:prstGeom>
          <a:solidFill>
            <a:srgbClr val="CBE3F0"/>
          </a:solidFill>
          <a:ln w="9525">
            <a:solidFill>
              <a:srgbClr val="3578A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350008"/>
            <a:ext cx="64008" cy="1097280"/>
          </a:xfrm>
          <a:prstGeom prst="rect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459736"/>
            <a:ext cx="502920" cy="502920"/>
          </a:xfrm>
          <a:prstGeom prst="ellipse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459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64208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Comparison Tool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64208" y="28072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 to 3 schemes and compare them side-by-side. See benefit amounts, document requirements, application deadlines, processing time, and success rates — all in one clear view. Helps citizens make informed decisions.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6208" y="251460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514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78A0"/>
                </a:solidFill>
              </a:rPr>
              <a:t>Side-by-side 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43216" y="251460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43216" y="2514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78A0"/>
                </a:solidFill>
              </a:rPr>
              <a:t>Benefit Amounts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291693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9169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78A0"/>
                </a:solidFill>
              </a:rPr>
              <a:t>Doc Checklist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43216" y="291693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29169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78A0"/>
                </a:solidFill>
              </a:rPr>
              <a:t>Success Rates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584448"/>
            <a:ext cx="8339328" cy="1097280"/>
          </a:xfrm>
          <a:prstGeom prst="rect">
            <a:avLst/>
          </a:prstGeom>
          <a:solidFill>
            <a:srgbClr val="D8ECC4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584448"/>
            <a:ext cx="64008" cy="1097280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694176"/>
            <a:ext cx="502920" cy="502920"/>
          </a:xfrm>
          <a:prstGeom prst="ellipse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664208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Eligibility Checker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64208" y="40416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income, caste, land holding, family size, occupation, and location once. AI instantly cross-matches your profile against all schemes and returns a ranked list with confidence scores and reasons for each match.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374904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7490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035"/>
                </a:solidFill>
              </a:rPr>
              <a:t>AI Matching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3216" y="3749040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3216" y="37490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035"/>
                </a:solidFill>
              </a:rPr>
              <a:t>Confidence Scores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36208" y="415137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41513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035"/>
                </a:solidFill>
              </a:rPr>
              <a:t>Profile-based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43216" y="4151376"/>
            <a:ext cx="111556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43216" y="41513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035"/>
                </a:solidFill>
              </a:rPr>
              <a:t>Ranked Results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8ECC4"/>
          </a:solidFill>
          <a:ln w="12700">
            <a:solidFill>
              <a:srgbClr val="7AAD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Scheme Discovery Tools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751A"/>
                </a:solidFill>
              </a:rPr>
              <a:t>CITIZEN SUPPORT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application to outcome — we stay with you.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743200" cy="3657600"/>
          </a:xfrm>
          <a:prstGeom prst="rect">
            <a:avLst/>
          </a:prstGeom>
          <a:solidFill>
            <a:srgbClr val="F5DDD0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97280"/>
            <a:ext cx="2743200" cy="64008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207008"/>
            <a:ext cx="566928" cy="5669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070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Tracker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" y="2724912"/>
            <a:ext cx="109728" cy="1097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Real-time status updates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" y="3108960"/>
            <a:ext cx="109728" cy="1097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06324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Track multiple applications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" y="3493008"/>
            <a:ext cx="109728" cy="1097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44728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Next-step action prompts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" y="3877056"/>
            <a:ext cx="109728" cy="1097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831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Document submission log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6072" y="4261104"/>
            <a:ext cx="109728" cy="109728"/>
          </a:xfrm>
          <a:prstGeom prst="ellipse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2153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Officer contact details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73552" y="1097280"/>
            <a:ext cx="2743200" cy="3657600"/>
          </a:xfrm>
          <a:prstGeom prst="rect">
            <a:avLst/>
          </a:prstGeom>
          <a:solidFill>
            <a:srgbClr val="FAEAC8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1097280"/>
            <a:ext cx="2743200" cy="64008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8144" y="1207008"/>
            <a:ext cx="566928" cy="5669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12070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96512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410712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Deadline Calendar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Reminders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502152" y="2724912"/>
            <a:ext cx="109728" cy="1097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Scheme application deadlines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02152" y="3108960"/>
            <a:ext cx="109728" cy="1097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306324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Document renewal alerts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02152" y="3493008"/>
            <a:ext cx="109728" cy="1097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44728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WhatsApp &amp; SMS reminders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502152" y="3877056"/>
            <a:ext cx="109728" cy="1097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5032" y="3831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Monthly calendar view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02152" y="4261104"/>
            <a:ext cx="109728" cy="109728"/>
          </a:xfrm>
          <a:prstGeom prst="ellipse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5032" y="42153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Custom reminder setting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9632" y="1097280"/>
            <a:ext cx="2743200" cy="3657600"/>
          </a:xfrm>
          <a:prstGeom prst="rect">
            <a:avLst/>
          </a:prstGeom>
          <a:solidFill>
            <a:srgbClr val="C8E8E5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9632" y="1097280"/>
            <a:ext cx="2743200" cy="64008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4224" y="1207008"/>
            <a:ext cx="566928" cy="5669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2070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22592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336792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CSC Center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Locator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428232" y="2724912"/>
            <a:ext cx="109728" cy="1097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Map-based CSC finder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28232" y="3108960"/>
            <a:ext cx="109728" cy="1097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306324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Distance &amp; directions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28232" y="3493008"/>
            <a:ext cx="109728" cy="1097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344728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Operating hours &amp; contact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28232" y="3877056"/>
            <a:ext cx="109728" cy="1097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1112" y="3831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Services available at CSC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28232" y="4261104"/>
            <a:ext cx="109728" cy="109728"/>
          </a:xfrm>
          <a:prstGeom prst="ellipse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11112" y="42153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018"/>
                </a:solidFill>
              </a:rPr>
              <a:t>Offline cache for rural areas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AEAC8"/>
          </a:solidFill>
          <a:ln w="12700">
            <a:solidFill>
              <a:srgbClr val="E8A8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Citizen Support Tools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578A0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Bharat — Lightweight, Accessible, Powerful.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4133088" cy="1097280"/>
          </a:xfrm>
          <a:prstGeom prst="rect">
            <a:avLst/>
          </a:prstGeom>
          <a:solidFill>
            <a:srgbClr val="CBE3F0"/>
          </a:solidFill>
          <a:ln w="9525">
            <a:solidFill>
              <a:srgbClr val="3578A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97280"/>
            <a:ext cx="64008" cy="1097280"/>
          </a:xfrm>
          <a:prstGeom prst="rect">
            <a:avLst/>
          </a:prstGeom>
          <a:solidFill>
            <a:srgbClr val="3578A0"/>
          </a:solidFill>
          <a:ln w="12700">
            <a:solidFill>
              <a:srgbClr val="3578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3502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57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350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⚛️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61872" y="1188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3578A0"/>
                </a:solidFill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180136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Responsive, mobile-first UI with voice controls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133088" cy="1097280"/>
          </a:xfrm>
          <a:prstGeom prst="rect">
            <a:avLst/>
          </a:prstGeom>
          <a:solidFill>
            <a:srgbClr val="D8ECC4"/>
          </a:solidFill>
          <a:ln w="9525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" cy="1097280"/>
          </a:xfrm>
          <a:prstGeom prst="rect">
            <a:avLst/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33502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3350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🟢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724144" y="1188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4A7035"/>
                </a:solidFill>
              </a:rPr>
              <a:t>BACKEND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24144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24144" y="180136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Fast REST API, OTP auth, scheme data endpoints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331720"/>
            <a:ext cx="4133088" cy="1097280"/>
          </a:xfrm>
          <a:prstGeom prst="rect">
            <a:avLst/>
          </a:prstGeom>
          <a:solidFill>
            <a:srgbClr val="FAEAC8"/>
          </a:solidFill>
          <a:ln w="9525">
            <a:solidFill>
              <a:srgbClr val="C4751A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331720"/>
            <a:ext cx="64008" cy="1097280"/>
          </a:xfrm>
          <a:prstGeom prst="rect">
            <a:avLst/>
          </a:prstGeom>
          <a:solidFill>
            <a:srgbClr val="C4751A"/>
          </a:solidFill>
          <a:ln w="12700">
            <a:solidFill>
              <a:srgbClr val="C47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56946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47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69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🎙️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61872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4751A"/>
                </a:solidFill>
              </a:rPr>
              <a:t>VOICE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61872" y="26609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1872" y="30358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Browser-native STT + TTS, no extra app needed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4133088" cy="1097280"/>
          </a:xfrm>
          <a:prstGeom prst="rect">
            <a:avLst/>
          </a:prstGeom>
          <a:solidFill>
            <a:srgbClr val="F5DDD0"/>
          </a:solidFill>
          <a:ln w="9525">
            <a:solidFill>
              <a:srgbClr val="B84A1E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31720"/>
            <a:ext cx="64008" cy="1097280"/>
          </a:xfrm>
          <a:prstGeom prst="rect">
            <a:avLst/>
          </a:prstGeom>
          <a:solidFill>
            <a:srgbClr val="B84A1E"/>
          </a:solidFill>
          <a:ln w="12700">
            <a:solidFill>
              <a:srgbClr val="B84A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56946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4A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569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🦙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724144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84A1E"/>
                </a:solidFill>
              </a:rPr>
              <a:t>AI CORE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24144" y="26609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24144" y="30358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Local LLM — runs offline, fully private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3566160"/>
            <a:ext cx="4133088" cy="1097280"/>
          </a:xfrm>
          <a:prstGeom prst="rect">
            <a:avLst/>
          </a:prstGeom>
          <a:solidFill>
            <a:srgbClr val="C8E8E5"/>
          </a:solidFill>
          <a:ln w="9525">
            <a:solidFill>
              <a:srgbClr val="2E8B80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3566160"/>
            <a:ext cx="64008" cy="1097280"/>
          </a:xfrm>
          <a:prstGeom prst="rect">
            <a:avLst/>
          </a:prstGeom>
          <a:solidFill>
            <a:srgbClr val="2E8B80"/>
          </a:solidFill>
          <a:ln w="12700">
            <a:solidFill>
              <a:srgbClr val="2E8B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80390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E8B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03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🌐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61872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E8B80"/>
                </a:solidFill>
              </a:rPr>
              <a:t>TRANSLATION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261872" y="38953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API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61872" y="427024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9+ Indian languages, real-time query translation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566160"/>
            <a:ext cx="4133088" cy="1097280"/>
          </a:xfrm>
          <a:prstGeom prst="rect">
            <a:avLst/>
          </a:prstGeom>
          <a:solidFill>
            <a:srgbClr val="E8D8EC"/>
          </a:solidFill>
          <a:ln w="9525">
            <a:solidFill>
              <a:srgbClr val="7B4F8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566160"/>
            <a:ext cx="64008" cy="1097280"/>
          </a:xfrm>
          <a:prstGeom prst="rect">
            <a:avLst/>
          </a:prstGeom>
          <a:solidFill>
            <a:srgbClr val="7B4F82"/>
          </a:solidFill>
          <a:ln w="12700">
            <a:solidFill>
              <a:srgbClr val="7B4F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10912" y="3803904"/>
            <a:ext cx="594360" cy="5943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4F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803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🔐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5724144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B4F82"/>
                </a:solidFill>
              </a:rPr>
              <a:t>AUTH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24144" y="38953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Mobile Login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24144" y="427024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F4E"/>
                </a:solidFill>
              </a:rPr>
              <a:t>No passwords — just mobile number &amp; OTP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BE3F0"/>
          </a:solidFill>
          <a:ln w="12700">
            <a:solidFill>
              <a:srgbClr val="CBE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6F4E"/>
                </a:solidFill>
              </a:rPr>
              <a:t>JanSahay  ·  Tech Stack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989E9-76FC-18AE-9DBF-1269F6E7A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48D91289-4CB7-7C22-3826-6132DE981A22}"/>
              </a:ext>
            </a:extLst>
          </p:cNvPr>
          <p:cNvSpPr txBox="1"/>
          <p:nvPr/>
        </p:nvSpPr>
        <p:spPr>
          <a:xfrm>
            <a:off x="189914" y="1668189"/>
            <a:ext cx="8412480" cy="28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1 (Foundation):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Scheme </a:t>
            </a:r>
            <a:r>
              <a:rPr lang="en-IN" b="0" i="0" dirty="0" err="1">
                <a:solidFill>
                  <a:srgbClr val="0F1115"/>
                </a:solidFill>
                <a:effectLst/>
                <a:latin typeface="quote-cjk-patch"/>
              </a:rPr>
              <a:t>catalog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+ OTP login + basic voice (Hindi/English).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2 (AI Integration):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Llama 3.2 setup, document upload, eligibility matching.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3 (Support Tools):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Tracker, calendar, CSC locator.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4 (Language Expansion):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9 languages via Google Translate + offline cache.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5 (Pilot):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5 villages, feedback loop, iterative UI improvements.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Phase 6 (Scale):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State-wide rollout + </a:t>
            </a:r>
            <a:r>
              <a:rPr lang="en-IN" b="0" i="0" dirty="0" err="1">
                <a:solidFill>
                  <a:srgbClr val="0F1115"/>
                </a:solidFill>
                <a:effectLst/>
                <a:latin typeface="quote-cjk-patch"/>
              </a:rPr>
              <a:t>DigiLocker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integration.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0EEEF-8463-B267-1136-7428D60E9352}"/>
              </a:ext>
            </a:extLst>
          </p:cNvPr>
          <p:cNvSpPr txBox="1"/>
          <p:nvPr/>
        </p:nvSpPr>
        <p:spPr>
          <a:xfrm>
            <a:off x="189914" y="623910"/>
            <a:ext cx="45223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Methodology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3137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9A29-7872-4D85-F7ED-BD92274D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D9613990-8A1A-3597-0EB8-4909A4DC6D38}"/>
              </a:ext>
            </a:extLst>
          </p:cNvPr>
          <p:cNvSpPr txBox="1"/>
          <p:nvPr/>
        </p:nvSpPr>
        <p:spPr>
          <a:xfrm>
            <a:off x="189914" y="1668189"/>
            <a:ext cx="8412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Voice AI Assistant – microphone button + spoken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Scheme </a:t>
            </a:r>
            <a:r>
              <a:rPr lang="en-IN" sz="2000" dirty="0" err="1"/>
              <a:t>Catalog</a:t>
            </a:r>
            <a:r>
              <a:rPr lang="en-IN" sz="2000" dirty="0"/>
              <a:t> – card view with star ratings &amp;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Eligibility Checker – profile form + confidence score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Scheme Comparison – side-by-side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Application Tracker – progress bar &amp;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CSC Locator – map view with </a:t>
            </a:r>
            <a:r>
              <a:rPr lang="en-IN" sz="2000" dirty="0" err="1"/>
              <a:t>center</a:t>
            </a:r>
            <a:r>
              <a:rPr lang="en-IN" sz="2000" dirty="0"/>
              <a:t>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Chatbot + Doc Upload – chat window &amp; Aadhaar upload prompt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646BD0-496F-1A30-673D-6A9BEDF86CE9}"/>
              </a:ext>
            </a:extLst>
          </p:cNvPr>
          <p:cNvSpPr txBox="1"/>
          <p:nvPr/>
        </p:nvSpPr>
        <p:spPr>
          <a:xfrm>
            <a:off x="189913" y="623910"/>
            <a:ext cx="3165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</a:t>
            </a:r>
            <a:r>
              <a:rPr lang="en-US" sz="2200" b="1" dirty="0" err="1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Prototypig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311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DAD0A-13E1-27CB-C37B-58C9D77E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25CD0D0A-0D1C-7954-8A4D-554652D6AE67}"/>
              </a:ext>
            </a:extLst>
          </p:cNvPr>
          <p:cNvSpPr txBox="1"/>
          <p:nvPr/>
        </p:nvSpPr>
        <p:spPr>
          <a:xfrm>
            <a:off x="189914" y="1668189"/>
            <a:ext cx="8412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Offline Voice + AI:</a:t>
            </a:r>
            <a:r>
              <a:rPr lang="en-IN" dirty="0"/>
              <a:t> Running Llama 3.2 locally on low-end devices → used quantized model + </a:t>
            </a:r>
            <a:r>
              <a:rPr lang="en-IN" dirty="0" err="1"/>
              <a:t>indexedDB</a:t>
            </a:r>
            <a:r>
              <a:rPr lang="en-IN" dirty="0"/>
              <a:t> cache.</a:t>
            </a:r>
          </a:p>
          <a:p>
            <a:r>
              <a:rPr lang="en-IN" b="1" dirty="0"/>
              <a:t>Low Internet Connectivity:</a:t>
            </a:r>
            <a:r>
              <a:rPr lang="en-IN" dirty="0"/>
              <a:t> Cached scheme responses &amp; fallback SMS reminder system.</a:t>
            </a:r>
          </a:p>
          <a:p>
            <a:r>
              <a:rPr lang="en-IN" b="1" dirty="0"/>
              <a:t>Speech Accuracy for Dialects:</a:t>
            </a:r>
            <a:r>
              <a:rPr lang="en-IN" dirty="0"/>
              <a:t> Web Speech API limited → added phonetic keyword matching + user confirmation step.</a:t>
            </a:r>
          </a:p>
          <a:p>
            <a:r>
              <a:rPr lang="en-IN" b="1" dirty="0"/>
              <a:t>Document Privacy:</a:t>
            </a:r>
            <a:r>
              <a:rPr lang="en-IN" dirty="0"/>
              <a:t> Aadhaar/PAN processed locally via </a:t>
            </a:r>
            <a:r>
              <a:rPr lang="en-IN" dirty="0" err="1"/>
              <a:t>Ollama</a:t>
            </a:r>
            <a:r>
              <a:rPr lang="en-IN" dirty="0"/>
              <a:t>, never sent to server.</a:t>
            </a:r>
          </a:p>
          <a:p>
            <a:r>
              <a:rPr lang="en-IN" b="1" dirty="0"/>
              <a:t>Multi-language UI:</a:t>
            </a:r>
            <a:r>
              <a:rPr lang="en-IN" dirty="0"/>
              <a:t> Dynamic text rendering with i18n + RTL support for Urdu extension later.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CB39E7-8B83-F156-0241-86405A09EFFE}"/>
              </a:ext>
            </a:extLst>
          </p:cNvPr>
          <p:cNvSpPr txBox="1"/>
          <p:nvPr/>
        </p:nvSpPr>
        <p:spPr>
          <a:xfrm>
            <a:off x="189913" y="623910"/>
            <a:ext cx="503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Challenges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5573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9BEC8-8462-E4A8-797B-A70A6D89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D2E1DC0B-8619-DDB0-FA78-E94CBC628490}"/>
              </a:ext>
            </a:extLst>
          </p:cNvPr>
          <p:cNvSpPr txBox="1"/>
          <p:nvPr/>
        </p:nvSpPr>
        <p:spPr>
          <a:xfrm>
            <a:off x="189914" y="1302429"/>
            <a:ext cx="8412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Horizontal Scaling:</a:t>
            </a:r>
            <a:r>
              <a:rPr lang="en-IN" dirty="0"/>
              <a:t> Node.js backend can be containerized &amp; deployed on Kubernetes across multiple regions.</a:t>
            </a:r>
          </a:p>
          <a:p>
            <a:r>
              <a:rPr lang="en-IN" b="1" dirty="0"/>
              <a:t>Database Sharding:</a:t>
            </a:r>
            <a:r>
              <a:rPr lang="en-IN" dirty="0"/>
              <a:t> User profiles &amp; applications sharded by state/region.</a:t>
            </a:r>
          </a:p>
          <a:p>
            <a:r>
              <a:rPr lang="en-IN" b="1" dirty="0"/>
              <a:t>AI Scaling:</a:t>
            </a:r>
            <a:r>
              <a:rPr lang="en-IN" dirty="0"/>
              <a:t> </a:t>
            </a:r>
            <a:r>
              <a:rPr lang="en-IN" dirty="0" err="1"/>
              <a:t>Ollama</a:t>
            </a:r>
            <a:r>
              <a:rPr lang="en-IN" dirty="0"/>
              <a:t> instances can be load-balanced; cloud LLM fallback for high traffic.</a:t>
            </a:r>
          </a:p>
          <a:p>
            <a:r>
              <a:rPr lang="en-IN" b="1" dirty="0"/>
              <a:t>Language Expansion:</a:t>
            </a:r>
            <a:r>
              <a:rPr lang="en-IN" dirty="0"/>
              <a:t> Google Translate API supports 100+ languages; can extend beyond 9.</a:t>
            </a:r>
          </a:p>
          <a:p>
            <a:r>
              <a:rPr lang="en-IN" b="1" dirty="0"/>
              <a:t>Offline-first Design:</a:t>
            </a:r>
            <a:r>
              <a:rPr lang="en-IN" dirty="0"/>
              <a:t> Reduces server load in rural areas.</a:t>
            </a:r>
          </a:p>
          <a:p>
            <a:r>
              <a:rPr lang="en-IN" b="1" dirty="0"/>
              <a:t>Integration Ready:</a:t>
            </a:r>
            <a:r>
              <a:rPr lang="en-IN" dirty="0"/>
              <a:t> API-based architecture allows plugging into UMANG, </a:t>
            </a:r>
            <a:r>
              <a:rPr lang="en-IN" dirty="0" err="1"/>
              <a:t>DigiLocker</a:t>
            </a:r>
            <a:r>
              <a:rPr lang="en-IN" dirty="0"/>
              <a:t>, CSC e-Governance platforms.</a:t>
            </a:r>
          </a:p>
          <a:p>
            <a:r>
              <a:rPr lang="en-IN" b="1" dirty="0"/>
              <a:t>Target Scale:</a:t>
            </a:r>
            <a:r>
              <a:rPr lang="en-IN" dirty="0"/>
              <a:t> Designed for 10M+ concurrent users with caching &amp; edge deployment.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798EC2-235E-1892-3691-170BC3F8DD3F}"/>
              </a:ext>
            </a:extLst>
          </p:cNvPr>
          <p:cNvSpPr txBox="1"/>
          <p:nvPr/>
        </p:nvSpPr>
        <p:spPr>
          <a:xfrm>
            <a:off x="189913" y="623910"/>
            <a:ext cx="503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12357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D8ECC4"/>
          </a:solidFill>
          <a:ln w="12700">
            <a:solidFill>
              <a:srgbClr val="7AA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FAEAC8"/>
          </a:solidFill>
          <a:ln w="9525">
            <a:solidFill>
              <a:srgbClr val="E8A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751A"/>
                </a:solidFill>
              </a:rPr>
              <a:t>IMPACT &amp; 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citizen deserves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to what's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rightfully theirs.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57276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299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6F4E"/>
                </a:solidFill>
              </a:rPr>
              <a:t>Languages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011680"/>
            <a:ext cx="157276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20299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402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6F4E"/>
                </a:solidFill>
              </a:rPr>
              <a:t>Schemes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69080" y="2011680"/>
            <a:ext cx="157276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0299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0690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6F4E"/>
                </a:solidFill>
              </a:rPr>
              <a:t>Features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2011680"/>
            <a:ext cx="157276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A832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20299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8978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6F4E"/>
                </a:solidFill>
              </a:rPr>
              <a:t>Passwords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1638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"Schemes exist for Bharat. JanSahay makes them reachable."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502920"/>
            <a:ext cx="321868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7AAD58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87568" y="621792"/>
            <a:ext cx="594360" cy="523008"/>
          </a:xfrm>
          <a:prstGeom prst="ellipse">
            <a:avLst/>
          </a:prstGeom>
          <a:solidFill>
            <a:srgbClr val="D8ECC4"/>
          </a:solidFill>
          <a:ln w="9525">
            <a:solidFill>
              <a:srgbClr val="7AA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6217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82512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First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87568" y="1005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E"/>
                </a:solidFill>
              </a:rPr>
              <a:t>Not an urban app adapted for villages — built ground-up for rural citizens.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984248"/>
            <a:ext cx="321868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7AAD58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87568" y="2103120"/>
            <a:ext cx="694944" cy="548640"/>
          </a:xfrm>
          <a:prstGeom prst="ellipse">
            <a:avLst/>
          </a:prstGeom>
          <a:solidFill>
            <a:srgbClr val="D8ECC4"/>
          </a:solidFill>
          <a:ln w="9525">
            <a:solidFill>
              <a:srgbClr val="7AAD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21031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82512" y="2075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Integration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87568" y="248716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E"/>
                </a:solidFill>
              </a:rPr>
              <a:t>Designed for DigiLocker, Aadhaar, and official scheme API integration.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3465576"/>
            <a:ext cx="321868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7AAD58"/>
            </a:solidFill>
            <a:prstDash val="solid"/>
          </a:ln>
          <a:effectLst>
            <a:outerShdw blurRad="127000" dist="38100" dir="8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87568" y="3584448"/>
            <a:ext cx="594360" cy="553212"/>
          </a:xfrm>
          <a:prstGeom prst="ellipse">
            <a:avLst/>
          </a:prstGeom>
          <a:solidFill>
            <a:srgbClr val="D8ECC4"/>
          </a:solidFill>
          <a:ln w="9525">
            <a:solidFill>
              <a:srgbClr val="7AAD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584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82512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Reach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87568" y="3968496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E"/>
                </a:solidFill>
              </a:rPr>
              <a:t>One member learns, all benefit — WhatsApp sharing multiplies impact.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822192"/>
            <a:ext cx="2377440" cy="530352"/>
          </a:xfrm>
          <a:prstGeom prst="roundRect">
            <a:avLst>
              <a:gd name="adj" fmla="val 20690"/>
            </a:avLst>
          </a:prstGeom>
          <a:solidFill>
            <a:srgbClr val="4A7035"/>
          </a:solidFill>
          <a:ln w="12700">
            <a:solidFill>
              <a:srgbClr val="4A7035"/>
            </a:solidFill>
            <a:prstDash val="solid"/>
          </a:ln>
          <a:effectLst>
            <a:outerShdw blurRad="127000" dist="38100" dir="8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8221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Built for Bharat  🇮🇳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6F4E"/>
                </a:solidFill>
              </a:rPr>
              <a:t>🌾  JanSahay Project  ·  Civic Tech for Rural India  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AEAC8"/>
          </a:solidFill>
          <a:ln w="12700">
            <a:solidFill>
              <a:srgbClr val="E8A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18"/>
                </a:solidFill>
              </a:rPr>
              <a:t>🌾  JanSahay Project  ·  Civic Tech for Rural India  🌾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1460</Words>
  <Application>Microsoft Office PowerPoint</Application>
  <PresentationFormat>On-screen Show (16:9)</PresentationFormat>
  <Paragraphs>270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quote-cjk-patch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JanSahay – Sarkari Yojana, Ab Aasaan</dc:title>
  <dc:subject>PptxGenJS Presentation</dc:subject>
  <dc:creator>PptxGenJS</dc:creator>
  <cp:lastModifiedBy>Shainy B</cp:lastModifiedBy>
  <cp:revision>3</cp:revision>
  <dcterms:created xsi:type="dcterms:W3CDTF">2026-04-29T04:39:48Z</dcterms:created>
  <dcterms:modified xsi:type="dcterms:W3CDTF">2026-04-29T05:16:48Z</dcterms:modified>
</cp:coreProperties>
</file>